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E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4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463040"/>
            <a:ext cx="10698480" cy="1463040"/>
          </a:xfrm>
          <a:prstGeom prst="rect">
            <a:avLst/>
          </a:prstGeom>
          <a:solidFill>
            <a:srgbClr val="0B1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4400" b="1">
                <a:solidFill>
                  <a:srgbClr val="FFFFFF"/>
                </a:solidFill>
              </a:rPr>
              <a:t>Telecom Order Provisioning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108960"/>
            <a:ext cx="10698480" cy="2286000"/>
          </a:xfrm>
          <a:prstGeom prst="rect">
            <a:avLst/>
          </a:prstGeom>
          <a:solidFill>
            <a:srgbClr val="0B1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0">
                <a:solidFill>
                  <a:srgbClr val="D7DEF0"/>
                </a:solidFill>
              </a:rPr>
              <a:t>Airtel/Jio-style order journey — 5 Spring Boot microservices, Angular + React UIs,
128 REST APIs, end-to-end fulfillment saga, reproducible incidents &amp; an AI investigator.
Built from scratch · Java 17 · Python · PostgreSQL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4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69848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E40000"/>
                </a:solidFill>
              </a:rPr>
              <a:t>WHAT — Introduction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069848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3600" b="1">
                <a:solidFill>
                  <a:srgbClr val="0B1E4B"/>
                </a:solidFill>
              </a:rPr>
              <a:t>What is this project?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286000"/>
            <a:ext cx="5394960" cy="8686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>
                <a:solidFill>
                  <a:srgbClr val="202020"/>
                </a:solidFill>
              </a:rPr>
              <a:t>A mini-telecom backend: customers order SIMs, phones &amp; fiber — the system validates, bills, reserves stock, activates &amp; texts them.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59" y="2286000"/>
            <a:ext cx="5394960" cy="8686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>
                <a:solidFill>
                  <a:srgbClr val="202020"/>
                </a:solidFill>
              </a:rPr>
              <a:t>5 independent microservices, each with its own database — no shared tables, only REST calls with a tracing ID.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337560"/>
            <a:ext cx="5394960" cy="8686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>
                <a:solidFill>
                  <a:srgbClr val="202020"/>
                </a:solidFill>
              </a:rPr>
              <a:t>Two frontends: NexaTel storefront (Angular, dark/light, carousel) + AI investigator console (React).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59" y="3337560"/>
            <a:ext cx="5394960" cy="8686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>
                <a:solidFill>
                  <a:srgbClr val="202020"/>
                </a:solidFill>
              </a:rPr>
              <a:t>10 reproducible production incidents (Jira-style tickets) + log-traced evidence for every one.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4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69848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E40000"/>
                </a:solidFill>
              </a:rPr>
              <a:t>WHY — Problem &amp; Purpose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069848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3600" b="1">
                <a:solidFill>
                  <a:srgbClr val="0B1E4B"/>
                </a:solidFill>
              </a:rPr>
              <a:t>Why was it built?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286000"/>
            <a:ext cx="5394960" cy="8686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>
                <a:solidFill>
                  <a:srgbClr val="202020"/>
                </a:solidFill>
              </a:rPr>
              <a:t>Learn microservices the real way: ownership, contracts, failure, compensation — not toy CRUD.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59" y="2286000"/>
            <a:ext cx="5394960" cy="8686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>
                <a:solidFill>
                  <a:srgbClr val="202020"/>
                </a:solidFill>
              </a:rPr>
              <a:t>Rehearse production reality: stuck orders, leaked holds, N+1 queries, duplicate SMS — then investigate like on-call.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337560"/>
            <a:ext cx="5394960" cy="8686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>
                <a:solidFill>
                  <a:srgbClr val="202020"/>
                </a:solidFill>
              </a:rPr>
              <a:t>Showcase an AI investigator: rule engine + LLM reasoning over live logs and databases.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59" y="3337560"/>
            <a:ext cx="5394960" cy="8686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>
                <a:solidFill>
                  <a:srgbClr val="202020"/>
                </a:solidFill>
              </a:rPr>
              <a:t>Portfolio + hackathon demo: one click runs the whole telecom story, including the rescue paths.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4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69848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E40000"/>
                </a:solidFill>
              </a:rPr>
              <a:t>WHERE — System 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069848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3600" b="1">
                <a:solidFill>
                  <a:srgbClr val="0B1E4B"/>
                </a:solidFill>
              </a:rPr>
              <a:t>Five services, five databases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286000"/>
            <a:ext cx="5394960" cy="8686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>
                <a:solidFill>
                  <a:srgbClr val="202020"/>
                </a:solidFill>
              </a:rPr>
              <a:t>customer :8081 — people, addresses, subscriptions, eligibility checks.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59" y="2286000"/>
            <a:ext cx="5394960" cy="8686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>
                <a:solidFill>
                  <a:srgbClr val="202020"/>
                </a:solidFill>
              </a:rPr>
              <a:t>order :8082 — the brain: lifecycle, payments, promos, fulfill saga.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337560"/>
            <a:ext cx="5394960" cy="8686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>
                <a:solidFill>
                  <a:srgbClr val="202020"/>
                </a:solidFill>
              </a:rPr>
              <a:t>inventory :8083 — SIMs, numbers, devices, fiber ports + holds.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59" y="3337560"/>
            <a:ext cx="5394960" cy="8686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>
                <a:solidFill>
                  <a:srgbClr val="202020"/>
                </a:solidFill>
              </a:rPr>
              <a:t>provisioning :8084 — simulated activation (mobile/eSIM/fiber/roaming).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4389120"/>
            <a:ext cx="5394960" cy="8686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>
                <a:solidFill>
                  <a:srgbClr val="202020"/>
                </a:solidFill>
              </a:rPr>
              <a:t>notification :8085 — simulated SMS/email + templates &amp; retries.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59" y="4389120"/>
            <a:ext cx="5394960" cy="8686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>
                <a:solidFill>
                  <a:srgbClr val="202020"/>
                </a:solidFill>
              </a:rPr>
              <a:t>UIs: NexaTel :4200 (Angular) · Investigator :5173 (React) · AI API :8090 (Python).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4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69848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E40000"/>
                </a:solidFill>
              </a:rPr>
              <a:t>HOW — Order Flowchart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069848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3200" b="1">
                <a:solidFill>
                  <a:srgbClr val="0B1E4B"/>
                </a:solidFill>
              </a:rPr>
              <a:t>One connection, eight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926080"/>
            <a:ext cx="1143000" cy="1188720"/>
          </a:xfrm>
          <a:prstGeom prst="rect">
            <a:avLst/>
          </a:prstGeom>
          <a:solidFill>
            <a:srgbClr val="0B1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Customer
signup</a:t>
            </a:r>
          </a:p>
        </p:txBody>
      </p:sp>
      <p:sp>
        <p:nvSpPr>
          <p:cNvPr id="6" name="Rectangle 5"/>
          <p:cNvSpPr/>
          <p:nvPr/>
        </p:nvSpPr>
        <p:spPr>
          <a:xfrm>
            <a:off x="1856232" y="2926080"/>
            <a:ext cx="1143000" cy="1188720"/>
          </a:xfrm>
          <a:prstGeom prst="rect">
            <a:avLst/>
          </a:prstGeom>
          <a:solidFill>
            <a:srgbClr val="0B1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Create
order</a:t>
            </a:r>
          </a:p>
        </p:txBody>
      </p:sp>
      <p:sp>
        <p:nvSpPr>
          <p:cNvPr id="7" name="Rectangle 6"/>
          <p:cNvSpPr/>
          <p:nvPr/>
        </p:nvSpPr>
        <p:spPr>
          <a:xfrm>
            <a:off x="3255264" y="2926080"/>
            <a:ext cx="1143000" cy="1188720"/>
          </a:xfrm>
          <a:prstGeom prst="rect">
            <a:avLst/>
          </a:prstGeom>
          <a:solidFill>
            <a:srgbClr val="0B1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Validate &amp;
submit</a:t>
            </a:r>
          </a:p>
        </p:txBody>
      </p:sp>
      <p:sp>
        <p:nvSpPr>
          <p:cNvPr id="8" name="Rectangle 7"/>
          <p:cNvSpPr/>
          <p:nvPr/>
        </p:nvSpPr>
        <p:spPr>
          <a:xfrm>
            <a:off x="4654296" y="2926080"/>
            <a:ext cx="1143000" cy="1188720"/>
          </a:xfrm>
          <a:prstGeom prst="rect">
            <a:avLst/>
          </a:prstGeom>
          <a:solidFill>
            <a:srgbClr val="0B1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Pay &amp;
verify</a:t>
            </a:r>
          </a:p>
        </p:txBody>
      </p:sp>
      <p:sp>
        <p:nvSpPr>
          <p:cNvPr id="9" name="Rectangle 8"/>
          <p:cNvSpPr/>
          <p:nvPr/>
        </p:nvSpPr>
        <p:spPr>
          <a:xfrm>
            <a:off x="6053328" y="2926080"/>
            <a:ext cx="1143000" cy="1188720"/>
          </a:xfrm>
          <a:prstGeom prst="rect">
            <a:avLst/>
          </a:prstGeom>
          <a:solidFill>
            <a:srgbClr val="0B1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Reserve
stock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52360" y="2926080"/>
            <a:ext cx="1143000" cy="1188720"/>
          </a:xfrm>
          <a:prstGeom prst="rect">
            <a:avLst/>
          </a:prstGeom>
          <a:solidFill>
            <a:srgbClr val="0B1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Activate
service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851392" y="2926080"/>
            <a:ext cx="1143000" cy="1188720"/>
          </a:xfrm>
          <a:prstGeom prst="rect">
            <a:avLst/>
          </a:prstGeom>
          <a:solidFill>
            <a:srgbClr val="0B1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Send
SMS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250424" y="2926080"/>
            <a:ext cx="1143000" cy="1188720"/>
          </a:xfrm>
          <a:prstGeom prst="rect">
            <a:avLst/>
          </a:prstGeom>
          <a:solidFill>
            <a:srgbClr val="E4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COMPLETED
+ timeline</a:t>
            </a:r>
          </a:p>
        </p:txBody>
      </p:sp>
      <p:cxnSp>
        <p:nvCxnSpPr>
          <p:cNvPr id="13" name="Connector 12"/>
          <p:cNvCxnSpPr>
            <a:stCxn id="5" idx="3"/>
            <a:endCxn id="6" idx="1"/>
          </p:cNvCxnSpPr>
          <p:nvPr/>
        </p:nvCxnSpPr>
        <p:spPr>
          <a:xfrm flipV="1">
            <a:off x="1600200" y="3520440"/>
            <a:ext cx="256032" cy="0"/>
          </a:xfrm>
          <a:prstGeom prst="line">
            <a:avLst/>
          </a:prstGeom>
          <a:ln w="31750">
            <a:solidFill>
              <a:srgbClr val="E4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>
            <a:stCxn id="6" idx="3"/>
            <a:endCxn id="7" idx="1"/>
          </p:cNvCxnSpPr>
          <p:nvPr/>
        </p:nvCxnSpPr>
        <p:spPr>
          <a:xfrm flipV="1">
            <a:off x="2999232" y="3520440"/>
            <a:ext cx="256032" cy="0"/>
          </a:xfrm>
          <a:prstGeom prst="line">
            <a:avLst/>
          </a:prstGeom>
          <a:ln w="31750">
            <a:solidFill>
              <a:srgbClr val="E4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>
            <a:stCxn id="7" idx="3"/>
            <a:endCxn id="8" idx="1"/>
          </p:cNvCxnSpPr>
          <p:nvPr/>
        </p:nvCxnSpPr>
        <p:spPr>
          <a:xfrm flipV="1">
            <a:off x="4398264" y="3520440"/>
            <a:ext cx="256032" cy="0"/>
          </a:xfrm>
          <a:prstGeom prst="line">
            <a:avLst/>
          </a:prstGeom>
          <a:ln w="31750">
            <a:solidFill>
              <a:srgbClr val="E4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>
            <a:stCxn id="8" idx="3"/>
            <a:endCxn id="9" idx="1"/>
          </p:cNvCxnSpPr>
          <p:nvPr/>
        </p:nvCxnSpPr>
        <p:spPr>
          <a:xfrm flipV="1">
            <a:off x="5797296" y="3520440"/>
            <a:ext cx="256032" cy="0"/>
          </a:xfrm>
          <a:prstGeom prst="line">
            <a:avLst/>
          </a:prstGeom>
          <a:ln w="31750">
            <a:solidFill>
              <a:srgbClr val="E4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>
            <a:stCxn id="9" idx="3"/>
            <a:endCxn id="10" idx="1"/>
          </p:cNvCxnSpPr>
          <p:nvPr/>
        </p:nvCxnSpPr>
        <p:spPr>
          <a:xfrm flipV="1">
            <a:off x="7196328" y="3520440"/>
            <a:ext cx="256032" cy="0"/>
          </a:xfrm>
          <a:prstGeom prst="line">
            <a:avLst/>
          </a:prstGeom>
          <a:ln w="31750">
            <a:solidFill>
              <a:srgbClr val="E4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>
            <a:stCxn id="10" idx="3"/>
            <a:endCxn id="11" idx="1"/>
          </p:cNvCxnSpPr>
          <p:nvPr/>
        </p:nvCxnSpPr>
        <p:spPr>
          <a:xfrm flipV="1">
            <a:off x="8595360" y="3520440"/>
            <a:ext cx="256032" cy="0"/>
          </a:xfrm>
          <a:prstGeom prst="line">
            <a:avLst/>
          </a:prstGeom>
          <a:ln w="31750">
            <a:solidFill>
              <a:srgbClr val="E4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>
            <a:stCxn id="11" idx="3"/>
            <a:endCxn id="12" idx="1"/>
          </p:cNvCxnSpPr>
          <p:nvPr/>
        </p:nvCxnSpPr>
        <p:spPr>
          <a:xfrm flipV="1">
            <a:off x="9994392" y="3520440"/>
            <a:ext cx="256032" cy="0"/>
          </a:xfrm>
          <a:prstGeom prst="line">
            <a:avLst/>
          </a:prstGeom>
          <a:ln w="31750">
            <a:solidFill>
              <a:srgbClr val="E4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457200" y="4754880"/>
            <a:ext cx="1124712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>
                <a:solidFill>
                  <a:srgbClr val="666666"/>
                </a:solidFill>
              </a:rPr>
              <a:t>Any step can fail → automatic compensation (release hold, roll back, park order as FAILED with evidence). Try: Fulfill end-to-end vs Fulfill (fail at activate).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4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69848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E40000"/>
                </a:solidFill>
              </a:rPr>
              <a:t>HOW — Technology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069848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3600" b="1">
                <a:solidFill>
                  <a:srgbClr val="0B1E4B"/>
                </a:solidFill>
              </a:rPr>
              <a:t>How is it built?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286000"/>
            <a:ext cx="5394960" cy="8686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>
                <a:solidFill>
                  <a:srgbClr val="202020"/>
                </a:solidFill>
              </a:rPr>
              <a:t>Backend: Java 17, Spring Boot 3.2, JPA/Hibernate, WebClient REST, JUnit + Mockito (94 tests).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59" y="2286000"/>
            <a:ext cx="5394960" cy="8686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>
                <a:solidFill>
                  <a:srgbClr val="202020"/>
                </a:solidFill>
              </a:rPr>
              <a:t>AI side: Python FastAPI investigator + React console; deterministic evidence, optional LLM reasoning.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337560"/>
            <a:ext cx="5394960" cy="8686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>
                <a:solidFill>
                  <a:srgbClr val="202020"/>
                </a:solidFill>
              </a:rPr>
              <a:t>Data: PostgreSQL — one database per service; rolling log files with correlation IDs.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59" y="3337560"/>
            <a:ext cx="5394960" cy="8686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>
                <a:solidFill>
                  <a:srgbClr val="202020"/>
                </a:solidFill>
              </a:rPr>
              <a:t>Frontend: Angular 22 NexaTel UI (signals, dark/light, carousel) + React investigator.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4389120"/>
            <a:ext cx="5394960" cy="8686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>
                <a:solidFill>
                  <a:srgbClr val="202020"/>
                </a:solidFill>
              </a:rPr>
              <a:t>Contracts: 128 Swagger-documented APIs; Postman-ready curls in chat history.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59" y="4389120"/>
            <a:ext cx="5394960" cy="8686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>
                <a:solidFill>
                  <a:srgbClr val="202020"/>
                </a:solidFill>
              </a:rPr>
              <a:t>Roadmap: Kafka events (19) and Docker packaging (20) come last — by design.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4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69848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E40000"/>
                </a:solidFill>
              </a:rPr>
              <a:t>WHEN &amp; WHERE — Running it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069848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3600" b="1">
                <a:solidFill>
                  <a:srgbClr val="0B1E4B"/>
                </a:solidFill>
              </a:rPr>
              <a:t>When and where does it run?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286000"/>
            <a:ext cx="5394960" cy="8686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>
                <a:solidFill>
                  <a:srgbClr val="202020"/>
                </a:solidFill>
              </a:rPr>
              <a:t>Today: everything on localhost — backends :8081–:8085, UIs :4200/:5173, AI :8090, logs :8899.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59" y="2286000"/>
            <a:ext cx="5394960" cy="8686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>
                <a:solidFill>
                  <a:srgbClr val="202020"/>
                </a:solidFill>
              </a:rPr>
              <a:t>Start order: PostgreSQL → 5 jars (mvn spring-boot:run) → npm start (both UIs) → uvicorn + log server.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337560"/>
            <a:ext cx="5394960" cy="8686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>
                <a:solidFill>
                  <a:srgbClr val="202020"/>
                </a:solidFill>
              </a:rPr>
              <a:t>Health: /actuator/health on every service; Swagger UI on every port; ./scripts/search-logs.sh traces one ID.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59" y="3337560"/>
            <a:ext cx="5394960" cy="8686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>
                <a:solidFill>
                  <a:srgbClr val="202020"/>
                </a:solidFill>
              </a:rPr>
              <a:t>Incidents: bash incident-scenarios/run-all.sh rebuilds all 14 broken states in ~2 minutes.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4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69848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E40000"/>
                </a:solidFill>
              </a:rPr>
              <a:t>USAGES — Who is it for?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069848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3600" b="1">
                <a:solidFill>
                  <a:srgbClr val="0B1E4B"/>
                </a:solidFill>
              </a:rPr>
              <a:t>What can you do with it?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286000"/>
            <a:ext cx="5394960" cy="8686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>
                <a:solidFill>
                  <a:srgbClr val="202020"/>
                </a:solidFill>
              </a:rPr>
              <a:t>New developers: OVERVIEW → SETUP → running system in ~15 minutes; SUMMARY.md tells the story.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59" y="2286000"/>
            <a:ext cx="5394960" cy="8686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>
                <a:solidFill>
                  <a:srgbClr val="202020"/>
                </a:solidFill>
              </a:rPr>
              <a:t>Demo the saga: one click fulfills an order across 4 services — or fails it and shows the rescue.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337560"/>
            <a:ext cx="5394960" cy="8686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>
                <a:solidFill>
                  <a:srgbClr val="202020"/>
                </a:solidFill>
              </a:rPr>
              <a:t>Practice on-call: 14 Jira-style tickets, each reproducible, each with log + DB evidence.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59" y="3337560"/>
            <a:ext cx="5394960" cy="8686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>
                <a:solidFill>
                  <a:srgbClr val="202020"/>
                </a:solidFill>
              </a:rPr>
              <a:t>Watch AI investigate: rule engine + LLM verdicts, RCA documents, fix-type badges, log-source proof.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4389120"/>
            <a:ext cx="5394960" cy="8686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>
                <a:solidFill>
                  <a:srgbClr val="202020"/>
                </a:solidFill>
              </a:rPr>
              <a:t>Portfolio: architecture, testing, docs and a live demo in one private repo.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E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4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463040"/>
            <a:ext cx="10698480" cy="1463040"/>
          </a:xfrm>
          <a:prstGeom prst="rect">
            <a:avLst/>
          </a:prstGeom>
          <a:solidFill>
            <a:srgbClr val="0B1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4400" b="1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108960"/>
            <a:ext cx="10698480" cy="2286000"/>
          </a:xfrm>
          <a:prstGeom prst="rect">
            <a:avLst/>
          </a:prstGeom>
          <a:solidFill>
            <a:srgbClr val="0B1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0">
                <a:solidFill>
                  <a:srgbClr val="D7DEF0"/>
                </a:solidFill>
              </a:rPr>
              <a:t>Repo: github.com/Sneha-15-2001/telecom-order-provisioning (private)
Start: SUMMARY.md → OVERVIEW.md → SETUP.md → http://localhost:4200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